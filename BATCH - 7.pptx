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80" r:id="rId8"/>
    <p:sldId id="263" r:id="rId9"/>
    <p:sldId id="264" r:id="rId10"/>
    <p:sldId id="279" r:id="rId11"/>
    <p:sldId id="266" r:id="rId12"/>
    <p:sldId id="267" r:id="rId13"/>
    <p:sldId id="268" r:id="rId14"/>
    <p:sldId id="270" r:id="rId15"/>
    <p:sldId id="272" r:id="rId16"/>
    <p:sldId id="273" r:id="rId17"/>
    <p:sldId id="274" r:id="rId18"/>
    <p:sldId id="275" r:id="rId19"/>
    <p:sldId id="276" r:id="rId20"/>
    <p:sldId id="281" r:id="rId21"/>
    <p:sldId id="282" r:id="rId22"/>
    <p:sldId id="277" r:id="rId23"/>
    <p:sldId id="278" r:id="rId2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700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E08219-C935-4127-8E45-6C69C27A7D66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2861DF-0785-4EB1-B9BD-84BDCA5BF9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184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861DF-0785-4EB1-B9BD-84BDCA5BF9A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432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99948" y="2437841"/>
            <a:ext cx="10917555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375"/>
              </a:lnSpc>
            </a:pPr>
            <a:fld id="{81D60167-4931-47E6-BA6A-407CBD079E47}" type="slidenum">
              <a:rPr b="1" spc="-50" dirty="0">
                <a:latin typeface="Calibri"/>
                <a:cs typeface="Calibri"/>
              </a:rPr>
              <a:t>‹#›</a:t>
            </a:fld>
            <a:endParaRPr b="1" spc="-50" dirty="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375"/>
              </a:lnSpc>
            </a:pPr>
            <a:fld id="{81D60167-4931-47E6-BA6A-407CBD079E47}" type="slidenum">
              <a:rPr b="1" spc="-50" dirty="0">
                <a:latin typeface="Calibri"/>
                <a:cs typeface="Calibri"/>
              </a:rPr>
              <a:t>‹#›</a:t>
            </a:fld>
            <a:endParaRPr b="1" spc="-50" dirty="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024496" y="2522600"/>
            <a:ext cx="5013325" cy="3512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375"/>
              </a:lnSpc>
            </a:pPr>
            <a:fld id="{81D60167-4931-47E6-BA6A-407CBD079E47}" type="slidenum">
              <a:rPr b="1" spc="-50" dirty="0">
                <a:latin typeface="Calibri"/>
                <a:cs typeface="Calibri"/>
              </a:rPr>
              <a:t>‹#›</a:t>
            </a:fld>
            <a:endParaRPr b="1" spc="-50" dirty="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375"/>
              </a:lnSpc>
            </a:pPr>
            <a:fld id="{81D60167-4931-47E6-BA6A-407CBD079E47}" type="slidenum">
              <a:rPr b="1" spc="-50" dirty="0">
                <a:latin typeface="Calibri"/>
                <a:cs typeface="Calibri"/>
              </a:rPr>
              <a:t>‹#›</a:t>
            </a:fld>
            <a:endParaRPr b="1" spc="-50" dirty="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375"/>
              </a:lnSpc>
            </a:pPr>
            <a:fld id="{81D60167-4931-47E6-BA6A-407CBD079E47}" type="slidenum">
              <a:rPr b="1" spc="-50" dirty="0">
                <a:latin typeface="Calibri"/>
                <a:cs typeface="Calibri"/>
              </a:rPr>
              <a:t>‹#›</a:t>
            </a:fld>
            <a:endParaRPr b="1" spc="-50" dirty="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17673" y="-75742"/>
            <a:ext cx="6756653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96542"/>
            <a:ext cx="10213340" cy="3401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68811" y="6447704"/>
            <a:ext cx="244475" cy="1955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375"/>
              </a:lnSpc>
            </a:pPr>
            <a:fld id="{81D60167-4931-47E6-BA6A-407CBD079E47}" type="slidenum">
              <a:rPr b="1" spc="-50" dirty="0">
                <a:latin typeface="Calibri"/>
                <a:cs typeface="Calibri"/>
              </a:rPr>
              <a:t>‹#›</a:t>
            </a:fld>
            <a:endParaRPr b="1" spc="-50" dirty="0">
              <a:latin typeface="Calibri"/>
              <a:cs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138589" y="2142956"/>
            <a:ext cx="12469178" cy="11336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600" b="1" spc="-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3600" b="1" spc="-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sz="3600" b="1" spc="-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3600" b="1" spc="-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3600" b="1" spc="-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3600" b="1" spc="-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3600" b="1" spc="-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3600" b="1" spc="-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sz="3600" b="1" spc="-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3600" b="1" spc="-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3600" b="1" spc="-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1" spc="-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IN" sz="3600" b="1" spc="-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3600" b="1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1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4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3600" b="1" spc="-4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4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IN" sz="3600" b="1" spc="-4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4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3600" b="1" spc="-4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4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3600" b="1" spc="-4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4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IN" sz="3600" b="1" spc="-4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4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3600" b="1" spc="-4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4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sz="3600" b="1" spc="-4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4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3600" b="1"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1"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4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3600" b="1" spc="-4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4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3600" b="1" spc="-4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4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3600" b="1" spc="-4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4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sz="3600" b="1" spc="-4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4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3600" b="1" spc="-4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4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3600" b="1" spc="-4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4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3600" b="1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4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3600" b="1" spc="-4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4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3600" b="1" spc="-4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4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3600" b="1"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1"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600" b="1" spc="-4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sz="3600" b="1" spc="-4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4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3600" b="1" spc="-4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4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IN" sz="3600" b="1" spc="-4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4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3600" b="1" spc="-4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4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3600" b="1" spc="-4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4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sz="3600" b="1" spc="-4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4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sz="3600" b="1" spc="-4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4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3600" b="1" spc="-4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4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3600" b="1" spc="-4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4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3600" b="1" spc="-4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4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93592" y="106812"/>
            <a:ext cx="733820" cy="4378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839" y="109944"/>
            <a:ext cx="5234469" cy="173161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935">
              <a:lnSpc>
                <a:spcPts val="1375"/>
              </a:lnSpc>
            </a:pPr>
            <a:fld id="{81D60167-4931-47E6-BA6A-407CBD079E47}" type="slidenum">
              <a:rPr b="1" spc="-50" dirty="0">
                <a:latin typeface="Calibri"/>
                <a:cs typeface="Calibri"/>
              </a:rPr>
              <a:t>1</a:t>
            </a:fld>
            <a:endParaRPr b="1" spc="-50" dirty="0">
              <a:latin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E26DF1-5F8A-ABC0-188F-B4D82AA9077B}"/>
              </a:ext>
            </a:extLst>
          </p:cNvPr>
          <p:cNvSpPr txBox="1"/>
          <p:nvPr/>
        </p:nvSpPr>
        <p:spPr>
          <a:xfrm>
            <a:off x="381000" y="3276600"/>
            <a:ext cx="11430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latin typeface="Arial Narrow" panose="020B0606020202030204" pitchFamily="34" charset="0"/>
              </a:rPr>
              <a:t>				</a:t>
            </a:r>
            <a:r>
              <a:rPr lang="pt-B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20CS8504 &amp; PROJECT WORK</a:t>
            </a:r>
          </a:p>
          <a:p>
            <a:pPr algn="ctr" rtl="0"/>
            <a:r>
              <a:rPr lang="en-US" sz="2800" b="1" dirty="0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END SEMESTER PRACTICAL EXAMINATION - APRIL/MAY - 2026</a:t>
            </a:r>
          </a:p>
          <a:p>
            <a:endParaRPr lang="pt-B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 : 7</a:t>
            </a:r>
          </a:p>
          <a:p>
            <a:r>
              <a:rPr lang="pt-B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05/05/2026 </a:t>
            </a:r>
          </a:p>
          <a:p>
            <a:r>
              <a:rPr lang="pt-B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: FN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935">
              <a:lnSpc>
                <a:spcPts val="1375"/>
              </a:lnSpc>
            </a:pPr>
            <a:fld id="{81D60167-4931-47E6-BA6A-407CBD079E47}" type="slidenum">
              <a:rPr b="1" spc="-50" dirty="0">
                <a:latin typeface="Calibri"/>
                <a:cs typeface="Calibri"/>
              </a:rPr>
              <a:t>2</a:t>
            </a:fld>
            <a:endParaRPr b="1" spc="-50" dirty="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4554" y="95199"/>
            <a:ext cx="9747885" cy="15917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ts val="6480"/>
              </a:lnSpc>
              <a:spcBef>
                <a:spcPts val="805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Powered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Ecosystem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9600" y="3401989"/>
            <a:ext cx="4225951" cy="1013739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 :</a:t>
            </a: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Ms.</a:t>
            </a:r>
            <a:r>
              <a:rPr sz="28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</a:t>
            </a:r>
            <a:r>
              <a:rPr sz="28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Karthika</a:t>
            </a:r>
            <a:r>
              <a:rPr sz="28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</a:t>
            </a:r>
            <a:r>
              <a:rPr sz="28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28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CSE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00800" y="3401989"/>
            <a:ext cx="5341873" cy="2615973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marR="140335">
              <a:lnSpc>
                <a:spcPts val="4020"/>
              </a:lnSpc>
              <a:spcBef>
                <a:spcPts val="120"/>
              </a:spcBef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:</a:t>
            </a:r>
          </a:p>
          <a:p>
            <a:pPr marL="12700" marR="140335">
              <a:lnSpc>
                <a:spcPts val="4020"/>
              </a:lnSpc>
              <a:spcBef>
                <a:spcPts val="120"/>
              </a:spcBef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Santosh</a:t>
            </a:r>
            <a:r>
              <a:rPr sz="28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G.V</a:t>
            </a:r>
            <a:r>
              <a:rPr sz="28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23038117104113</a:t>
            </a:r>
            <a:r>
              <a:rPr lang="en-IN"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Sherwin</a:t>
            </a:r>
            <a:r>
              <a:rPr sz="28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8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2303811710421146</a:t>
            </a:r>
            <a:r>
              <a:rPr lang="en-IN"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ts val="4020"/>
              </a:lnSpc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Siva</a:t>
            </a:r>
            <a:r>
              <a:rPr sz="28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Surya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2303811710421151</a:t>
            </a:r>
            <a:r>
              <a:rPr lang="en-IN"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Sri</a:t>
            </a:r>
            <a:r>
              <a:rPr sz="28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Harish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8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2303811710421155</a:t>
            </a:r>
            <a:r>
              <a:rPr lang="en-IN"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935">
              <a:lnSpc>
                <a:spcPts val="1375"/>
              </a:lnSpc>
            </a:pPr>
            <a:fld id="{81D60167-4931-47E6-BA6A-407CBD079E47}" type="slidenum">
              <a:rPr b="1" spc="-50" dirty="0">
                <a:latin typeface="Calibri"/>
                <a:cs typeface="Calibri"/>
              </a:rPr>
              <a:t>3</a:t>
            </a:fld>
            <a:endParaRPr b="1" spc="-50" dirty="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8207" y="152400"/>
            <a:ext cx="817410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3611" y="1513078"/>
            <a:ext cx="11123295" cy="32704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200" marR="5080" indent="-571500" algn="just">
              <a:lnSpc>
                <a:spcPct val="150000"/>
              </a:lnSpc>
              <a:spcBef>
                <a:spcPts val="100"/>
              </a:spcBef>
              <a:buFont typeface="+mj-lt"/>
              <a:buAutoNum type="arabicPeriod"/>
              <a:tabLst>
                <a:tab pos="5842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Empower</a:t>
            </a:r>
            <a:r>
              <a:rPr sz="24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citizens</a:t>
            </a:r>
            <a:r>
              <a:rPr sz="24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accurately</a:t>
            </a:r>
            <a:r>
              <a:rPr sz="24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segregate</a:t>
            </a:r>
            <a:r>
              <a:rPr sz="24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household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toxic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contamination.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84200" marR="208279" indent="-571500" algn="just">
              <a:lnSpc>
                <a:spcPct val="150000"/>
              </a:lnSpc>
              <a:buFont typeface="+mj-lt"/>
              <a:buAutoNum type="arabicPeriod"/>
              <a:tabLst>
                <a:tab pos="5842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</a:t>
            </a:r>
            <a:r>
              <a:rPr sz="24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municipal</a:t>
            </a:r>
            <a:r>
              <a:rPr sz="24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</a:t>
            </a:r>
            <a:r>
              <a:rPr sz="24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</a:t>
            </a:r>
            <a:r>
              <a:rPr sz="2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routes</a:t>
            </a:r>
            <a:r>
              <a:rPr sz="24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geolocation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fuel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consumption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84200" marR="1450975" indent="-571500" algn="just">
              <a:lnSpc>
                <a:spcPct val="150000"/>
              </a:lnSpc>
              <a:spcBef>
                <a:spcPts val="5"/>
              </a:spcBef>
              <a:buFont typeface="+mj-lt"/>
              <a:buAutoNum type="arabicPeriod"/>
              <a:tabLst>
                <a:tab pos="5842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Incentivize</a:t>
            </a:r>
            <a:r>
              <a:rPr sz="24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</a:t>
            </a:r>
            <a:r>
              <a:rPr sz="24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</a:t>
            </a:r>
            <a:r>
              <a:rPr sz="24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sz="24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sz="24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gamified</a:t>
            </a:r>
            <a:r>
              <a:rPr sz="24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"Green</a:t>
            </a:r>
            <a:r>
              <a:rPr sz="24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Points"</a:t>
            </a:r>
            <a:r>
              <a:rPr sz="24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reward</a:t>
            </a:r>
            <a:r>
              <a:rPr sz="24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935">
              <a:lnSpc>
                <a:spcPts val="1375"/>
              </a:lnSpc>
            </a:pPr>
            <a:fld id="{81D60167-4931-47E6-BA6A-407CBD079E47}" type="slidenum">
              <a:rPr b="1" spc="-50" dirty="0">
                <a:latin typeface="Calibri"/>
                <a:cs typeface="Calibri"/>
              </a:rPr>
              <a:t>4</a:t>
            </a:fld>
            <a:endParaRPr b="1" spc="-50" dirty="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8100" y="76200"/>
            <a:ext cx="4495799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1000" y="1415541"/>
            <a:ext cx="11430000" cy="437908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654685" lvl="2" indent="-457200" algn="just">
              <a:lnSpc>
                <a:spcPct val="150000"/>
              </a:lnSpc>
              <a:spcBef>
                <a:spcPts val="105"/>
              </a:spcBef>
              <a:buFont typeface="+mj-lt"/>
              <a:buAutoNum type="arabicPeriod"/>
              <a:tabLst>
                <a:tab pos="4699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massive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amounts</a:t>
            </a:r>
            <a:r>
              <a:rPr sz="2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segregated</a:t>
            </a:r>
            <a:r>
              <a:rPr sz="24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waste,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rendering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downstream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recycling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unviable.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lvl="2" indent="-457200" algn="just">
              <a:lnSpc>
                <a:spcPct val="150000"/>
              </a:lnSpc>
              <a:buFont typeface="+mj-lt"/>
              <a:buAutoNum type="arabicPeriod"/>
              <a:tabLst>
                <a:tab pos="46926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Citizens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struggle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segregation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marR="424180" lvl="2" indent="-457200" algn="just">
              <a:lnSpc>
                <a:spcPct val="150000"/>
              </a:lnSpc>
              <a:buFont typeface="+mj-lt"/>
              <a:buAutoNum type="arabicPeriod"/>
              <a:tabLst>
                <a:tab pos="4699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Municipalities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rely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static,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routes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marR="408940" lvl="2" indent="-457200" algn="just">
              <a:lnSpc>
                <a:spcPct val="150000"/>
              </a:lnSpc>
              <a:buFont typeface="+mj-lt"/>
              <a:buAutoNum type="arabicPeriod"/>
              <a:tabLst>
                <a:tab pos="4699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CleanCity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solves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 a dual-sided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platform: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Citizen App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B2G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Authority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marR="36830" lvl="2" indent="-457200" algn="just">
              <a:lnSpc>
                <a:spcPct val="150000"/>
              </a:lnSpc>
              <a:buFont typeface="+mj-lt"/>
              <a:buAutoNum type="arabicPeriod"/>
              <a:tabLst>
                <a:tab pos="4699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scanning,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tracking,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modernize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entire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lifecycle.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84635" y="6477380"/>
            <a:ext cx="77470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b="1" spc="-60" dirty="0">
                <a:latin typeface="Calibri"/>
                <a:cs typeface="Calibri"/>
              </a:rPr>
              <a:t>5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7267547"/>
              </p:ext>
            </p:extLst>
          </p:nvPr>
        </p:nvGraphicFramePr>
        <p:xfrm>
          <a:off x="0" y="572518"/>
          <a:ext cx="12185013" cy="60467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23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7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7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7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6428">
                <a:tc>
                  <a:txBody>
                    <a:bodyPr/>
                    <a:lstStyle/>
                    <a:p>
                      <a:pPr marL="49085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en-IN" sz="2000" b="1" dirty="0">
                          <a:latin typeface="+mj-lt"/>
                          <a:cs typeface="Arial"/>
                        </a:rPr>
                        <a:t>TITLE OF THE PAPER</a:t>
                      </a:r>
                      <a:endParaRPr sz="2000" b="1" dirty="0">
                        <a:latin typeface="+mj-lt"/>
                        <a:cs typeface="Arial"/>
                      </a:endParaRPr>
                    </a:p>
                  </a:txBody>
                  <a:tcPr marL="0" marR="0" marT="4000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R="80518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en-IN" sz="2000" b="1" dirty="0">
                          <a:latin typeface="+mj-lt"/>
                          <a:cs typeface="Arial"/>
                        </a:rPr>
                        <a:t>AUTHORS</a:t>
                      </a:r>
                      <a:endParaRPr sz="2000" b="1" dirty="0">
                        <a:latin typeface="+mj-lt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75692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en-IN" sz="2000" b="1" dirty="0">
                          <a:latin typeface="+mj-lt"/>
                          <a:cs typeface="Arial"/>
                        </a:rPr>
                        <a:t>PAPER GIST</a:t>
                      </a:r>
                      <a:endParaRPr sz="2000" b="1" dirty="0">
                        <a:latin typeface="+mj-lt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2921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en-IN" sz="2000" b="1" dirty="0">
                          <a:latin typeface="+mj-lt"/>
                          <a:cs typeface="Arial"/>
                        </a:rPr>
                        <a:t>TECHNOLOGY USED</a:t>
                      </a:r>
                      <a:endParaRPr sz="2000" b="1" dirty="0">
                        <a:latin typeface="+mj-lt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6691">
                <a:tc>
                  <a:txBody>
                    <a:bodyPr/>
                    <a:lstStyle/>
                    <a:p>
                      <a:pPr marL="88265" marR="178435" algn="just">
                        <a:lnSpc>
                          <a:spcPct val="100000"/>
                        </a:lnSpc>
                      </a:pPr>
                      <a:endParaRPr lang="en-US" sz="1200" b="1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88265" marR="178435" algn="just">
                        <a:lnSpc>
                          <a:spcPct val="100000"/>
                        </a:lnSpc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IoT-Based Smart Waste Management System: A Solution for Urban Sustainability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E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75260">
                        <a:lnSpc>
                          <a:spcPct val="100000"/>
                        </a:lnSpc>
                      </a:pPr>
                      <a:endParaRPr lang="en-IN" sz="12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91440" marR="175260" algn="ctr">
                        <a:lnSpc>
                          <a:spcPct val="100000"/>
                        </a:lnSpc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IIETA Authors (2024)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E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1811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Integrates ultrasonic sensors and GPS with cloud analytics to guide dynamic municipal routing, successfully cutting truck mileage by 20% and CO2 emissions by 18%.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E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713105">
                        <a:lnSpc>
                          <a:spcPct val="100000"/>
                        </a:lnSpc>
                      </a:pPr>
                      <a:endParaRPr lang="en-IN" sz="12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92075" marR="713105">
                        <a:lnSpc>
                          <a:spcPct val="100000"/>
                        </a:lnSpc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IoT, Arduino-ESP8266, Firebase, Ultrasonic Sensors, GPS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236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88265" marR="178435" algn="just">
                        <a:lnSpc>
                          <a:spcPct val="100000"/>
                        </a:lnSpc>
                      </a:pPr>
                      <a:r>
                        <a:rPr sz="1200" b="1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sz="1200" b="1" spc="-1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b="1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Reliable</a:t>
                      </a:r>
                      <a:r>
                        <a:rPr sz="1200" b="1" spc="-4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b="1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</a:t>
                      </a:r>
                      <a:r>
                        <a:rPr sz="1200" b="1" spc="-2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b="1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Robust</a:t>
                      </a:r>
                      <a:r>
                        <a:rPr sz="1200" b="1" spc="-3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b="1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</a:t>
                      </a:r>
                      <a:r>
                        <a:rPr sz="1200" b="1" spc="-3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 </a:t>
                      </a:r>
                      <a:r>
                        <a:rPr sz="1200" b="1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r>
                        <a:rPr sz="1200" b="1" spc="-3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b="1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</a:t>
                      </a:r>
                      <a:r>
                        <a:rPr sz="1200" b="1" spc="-3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b="1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Effective</a:t>
                      </a:r>
                      <a:r>
                        <a:rPr sz="1200" b="1" spc="-4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b="1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Recyclable</a:t>
                      </a:r>
                      <a:r>
                        <a:rPr sz="1200" b="1" spc="-4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Waste </a:t>
                      </a:r>
                      <a:r>
                        <a:rPr sz="1200" b="1" spc="-1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Classification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4986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1440" marR="175260" algn="ctr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MD.</a:t>
                      </a:r>
                      <a:r>
                        <a:rPr sz="1200" spc="-3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Mosarrof</a:t>
                      </a:r>
                      <a:r>
                        <a:rPr sz="1200" spc="-4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Hossen,</a:t>
                      </a:r>
                      <a:r>
                        <a:rPr sz="1200" spc="-2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Molla</a:t>
                      </a:r>
                      <a:r>
                        <a:rPr sz="1200" spc="-2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E.</a:t>
                      </a:r>
                      <a:r>
                        <a:rPr sz="1200" spc="-3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1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Majid,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</a:t>
                      </a:r>
                      <a:r>
                        <a:rPr sz="1200" spc="-2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al.</a:t>
                      </a:r>
                      <a:r>
                        <a:rPr sz="1200" spc="-3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1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(2024)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1811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Proposes</a:t>
                      </a:r>
                      <a:r>
                        <a:rPr sz="1200" spc="-5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</a:t>
                      </a:r>
                      <a:r>
                        <a:rPr sz="1200" spc="-1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RWC-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</a:t>
                      </a:r>
                      <a:r>
                        <a:rPr sz="1200" spc="-5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r>
                        <a:rPr sz="1200" spc="-3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2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accurately</a:t>
                      </a:r>
                      <a:r>
                        <a:rPr sz="1200" spc="-3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categorize</a:t>
                      </a:r>
                      <a:r>
                        <a:rPr sz="1200" spc="-5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household</a:t>
                      </a:r>
                      <a:r>
                        <a:rPr sz="1200" spc="-4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waste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into</a:t>
                      </a:r>
                      <a:r>
                        <a:rPr sz="1200" spc="-3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sz="1200" spc="-5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distinct</a:t>
                      </a:r>
                      <a:r>
                        <a:rPr sz="1200" spc="-3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classes,</a:t>
                      </a:r>
                      <a:r>
                        <a:rPr sz="1200" spc="-5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achieving</a:t>
                      </a:r>
                      <a:r>
                        <a:rPr sz="1200" spc="-3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95%</a:t>
                      </a:r>
                      <a:r>
                        <a:rPr sz="1200" spc="-3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r>
                        <a:rPr sz="1200" spc="-2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</a:t>
                      </a:r>
                      <a:r>
                        <a:rPr sz="1200" spc="-3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</a:t>
                      </a:r>
                      <a:r>
                        <a:rPr sz="1200" spc="-4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1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sorting</a:t>
                      </a:r>
                      <a:r>
                        <a:rPr sz="1200" spc="-5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systems</a:t>
                      </a:r>
                      <a:r>
                        <a:rPr sz="1200" spc="-3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</a:t>
                      </a:r>
                      <a:r>
                        <a:rPr sz="1200" spc="-4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</a:t>
                      </a:r>
                      <a:r>
                        <a:rPr sz="1200" spc="-2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1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source.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075" marR="713105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</a:t>
                      </a:r>
                      <a:r>
                        <a:rPr sz="1200" spc="-5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Learning,</a:t>
                      </a:r>
                      <a:r>
                        <a:rPr sz="1200" spc="-4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1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DenseNet201, MobileNet-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v2,</a:t>
                      </a:r>
                      <a:r>
                        <a:rPr sz="1200" spc="-3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 </a:t>
                      </a:r>
                      <a:r>
                        <a:rPr sz="1200" spc="-1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Vision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88265" marR="293370">
                        <a:lnSpc>
                          <a:spcPct val="100000"/>
                        </a:lnSpc>
                      </a:pPr>
                      <a:r>
                        <a:rPr sz="1200" b="1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</a:t>
                      </a:r>
                      <a:r>
                        <a:rPr sz="1200" b="1" spc="-6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b="1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Waste</a:t>
                      </a:r>
                      <a:r>
                        <a:rPr sz="1200" b="1" spc="-2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b="1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Detection</a:t>
                      </a:r>
                      <a:r>
                        <a:rPr sz="1200" b="1" spc="-5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 </a:t>
                      </a:r>
                      <a:r>
                        <a:rPr sz="1200" b="1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Classification</a:t>
                      </a:r>
                      <a:r>
                        <a:rPr sz="1200" b="1" spc="-1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b="1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Using</a:t>
                      </a:r>
                      <a:r>
                        <a:rPr sz="1200" b="1" spc="-3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YOLOv12-</a:t>
                      </a:r>
                      <a:r>
                        <a:rPr sz="1200" b="1" spc="-2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Based </a:t>
                      </a:r>
                      <a:r>
                        <a:rPr sz="1200" b="1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</a:t>
                      </a:r>
                      <a:r>
                        <a:rPr sz="1200" b="1" spc="-4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b="1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</a:t>
                      </a:r>
                      <a:r>
                        <a:rPr sz="1200" b="1" spc="-5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5049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R="838835" algn="r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MDPI</a:t>
                      </a:r>
                      <a:r>
                        <a:rPr sz="1200" spc="-4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</a:t>
                      </a:r>
                      <a:r>
                        <a:rPr sz="1200" spc="-3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r>
                        <a:rPr sz="1200" spc="-2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1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(2025)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E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58775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Integrates</a:t>
                      </a:r>
                      <a:r>
                        <a:rPr sz="1200" spc="-6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advanced</a:t>
                      </a:r>
                      <a:r>
                        <a:rPr sz="1200" spc="-6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architectures</a:t>
                      </a:r>
                      <a:r>
                        <a:rPr sz="1200" spc="-1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</a:t>
                      </a:r>
                      <a:r>
                        <a:rPr sz="1200" spc="-3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1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</a:t>
                      </a:r>
                      <a:r>
                        <a:rPr sz="1200" spc="-3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waste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detection,</a:t>
                      </a:r>
                      <a:r>
                        <a:rPr sz="1200" spc="-3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offering</a:t>
                      </a:r>
                      <a:r>
                        <a:rPr sz="1200" spc="-6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sz="1200" spc="-4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highly</a:t>
                      </a:r>
                      <a:r>
                        <a:rPr sz="1200" spc="-3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1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scalable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</a:t>
                      </a:r>
                      <a:r>
                        <a:rPr sz="1200" spc="-2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</a:t>
                      </a:r>
                      <a:r>
                        <a:rPr sz="1200" spc="-3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solution</a:t>
                      </a:r>
                      <a:r>
                        <a:rPr sz="1200" spc="-2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</a:t>
                      </a:r>
                      <a:r>
                        <a:rPr sz="1200" spc="-4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1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autonomous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waste</a:t>
                      </a:r>
                      <a:r>
                        <a:rPr sz="1200" spc="-4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identification</a:t>
                      </a:r>
                      <a:r>
                        <a:rPr sz="1200" spc="-1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</a:t>
                      </a:r>
                      <a:r>
                        <a:rPr sz="1200" spc="-3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</a:t>
                      </a:r>
                      <a:r>
                        <a:rPr sz="1200" spc="-4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1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cities.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41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075" marR="194945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YOLOv12,</a:t>
                      </a:r>
                      <a:r>
                        <a:rPr sz="1200" spc="-5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</a:t>
                      </a:r>
                      <a:r>
                        <a:rPr sz="1200" spc="-4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1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Vision,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Convolutional</a:t>
                      </a:r>
                      <a:r>
                        <a:rPr sz="1200" spc="-5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Neural</a:t>
                      </a:r>
                      <a:r>
                        <a:rPr sz="1200" spc="-5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Networks</a:t>
                      </a:r>
                      <a:r>
                        <a:rPr sz="1200" spc="-6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1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(CNNs)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88265" marR="371475">
                        <a:lnSpc>
                          <a:spcPct val="100000"/>
                        </a:lnSpc>
                      </a:pPr>
                      <a:r>
                        <a:rPr sz="1200" b="1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</a:t>
                      </a:r>
                      <a:r>
                        <a:rPr sz="1200" b="1" spc="-3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b="1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Waste</a:t>
                      </a:r>
                      <a:r>
                        <a:rPr sz="1200" b="1" spc="-4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b="1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Management</a:t>
                      </a:r>
                      <a:r>
                        <a:rPr sz="1200" b="1" spc="-5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</a:t>
                      </a:r>
                      <a:r>
                        <a:rPr lang="en-IN" sz="1200" b="1" spc="-1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b="1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Using</a:t>
                      </a:r>
                      <a:r>
                        <a:rPr sz="1200" b="1" spc="-2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b="1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</a:t>
                      </a:r>
                      <a:r>
                        <a:rPr sz="1200" b="1" spc="-2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b="1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</a:t>
                      </a:r>
                      <a:r>
                        <a:rPr sz="1200" b="1" spc="-4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b="1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Route</a:t>
                      </a:r>
                      <a:r>
                        <a:rPr sz="1200" b="1" spc="-3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Optimization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R="796925" algn="r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ResearchGate</a:t>
                      </a:r>
                      <a:r>
                        <a:rPr sz="1200" spc="-5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r>
                        <a:rPr sz="1200" spc="-5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1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(2025)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10489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Develops</a:t>
                      </a:r>
                      <a:r>
                        <a:rPr sz="1200" spc="-2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sz="1200" spc="-3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</a:t>
                      </a:r>
                      <a:r>
                        <a:rPr sz="1200" spc="-4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where</a:t>
                      </a:r>
                      <a:r>
                        <a:rPr sz="1200" spc="-4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bins </a:t>
                      </a:r>
                      <a:r>
                        <a:rPr sz="1200" spc="-1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continuously</a:t>
                      </a:r>
                      <a:r>
                        <a:rPr sz="1200" spc="-1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</a:t>
                      </a:r>
                      <a:r>
                        <a:rPr sz="1200" spc="-2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waste</a:t>
                      </a:r>
                      <a:r>
                        <a:rPr sz="1200" spc="-2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levels</a:t>
                      </a:r>
                      <a:r>
                        <a:rPr sz="1200" spc="-1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2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send</a:t>
                      </a:r>
                      <a:r>
                        <a:rPr sz="1200" spc="-2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1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</a:t>
                      </a:r>
                      <a:r>
                        <a:rPr sz="1200" spc="-2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  <a:r>
                        <a:rPr sz="1200" spc="-1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</a:t>
                      </a:r>
                      <a:r>
                        <a:rPr sz="1200" spc="-2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sz="1200" spc="-2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central</a:t>
                      </a:r>
                      <a:r>
                        <a:rPr sz="1200" spc="-1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1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server,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applying</a:t>
                      </a:r>
                      <a:r>
                        <a:rPr sz="1200" spc="-2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routing</a:t>
                      </a:r>
                      <a:r>
                        <a:rPr sz="1200" spc="-3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1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algorithms</a:t>
                      </a:r>
                      <a:r>
                        <a:rPr sz="1200" spc="-3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2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determine</a:t>
                      </a:r>
                      <a:r>
                        <a:rPr sz="1200" spc="-3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</a:t>
                      </a:r>
                      <a:r>
                        <a:rPr sz="1200" spc="-3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most</a:t>
                      </a:r>
                      <a:r>
                        <a:rPr sz="1200" spc="-4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fuel-</a:t>
                      </a:r>
                      <a:r>
                        <a:rPr sz="1200" spc="-1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collection</a:t>
                      </a:r>
                      <a:r>
                        <a:rPr sz="1200" spc="-6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1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paths.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41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075" marR="405130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IoT,</a:t>
                      </a:r>
                      <a:r>
                        <a:rPr sz="1200" spc="-5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</a:t>
                      </a:r>
                      <a:r>
                        <a:rPr sz="1200" spc="-4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Analytics,</a:t>
                      </a:r>
                      <a:r>
                        <a:rPr sz="1200" spc="-3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</a:t>
                      </a:r>
                      <a:r>
                        <a:rPr sz="1200" spc="-4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1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Route </a:t>
                      </a:r>
                      <a:r>
                        <a:rPr sz="120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Optimization</a:t>
                      </a:r>
                      <a:r>
                        <a:rPr sz="1200" spc="-55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10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Algorithms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5237"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</a:t>
                      </a:r>
                    </a:p>
                    <a:p>
                      <a:pPr marL="0" marR="0" lvl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Waste Classification using YOLO </a:t>
                      </a:r>
                    </a:p>
                    <a:p>
                      <a:pPr marL="0" marR="0" lvl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on Raspberry PI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D3E1CE"/>
                    </a:solidFill>
                  </a:tcPr>
                </a:tc>
                <a:tc>
                  <a:txBody>
                    <a:bodyPr/>
                    <a:lstStyle/>
                    <a:p>
                      <a:pPr marR="796925" algn="l">
                        <a:lnSpc>
                          <a:spcPct val="100000"/>
                        </a:lnSpc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</a:t>
                      </a:r>
                    </a:p>
                    <a:p>
                      <a:pPr marR="796925" algn="l">
                        <a:lnSpc>
                          <a:spcPct val="100000"/>
                        </a:lnSpc>
                      </a:pPr>
                      <a:endParaRPr lang="en-IN" sz="12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R="796925" algn="l">
                        <a:lnSpc>
                          <a:spcPct val="100000"/>
                        </a:lnSpc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</a:t>
                      </a:r>
                    </a:p>
                    <a:p>
                      <a:pPr marR="796925" algn="ctr">
                        <a:lnSpc>
                          <a:spcPct val="100000"/>
                        </a:lnSpc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IJERT Authors (2024)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D3E1CE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39065"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Employs </a:t>
                      </a:r>
                      <a:r>
                        <a:rPr lang="en-IN" sz="12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ultralytics</a:t>
                      </a:r>
                      <a:r>
                        <a:rPr lang="en-IN" sz="12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YOLO deep learning models deployed on a microcontroller to accurately identify and separate recyclable, non-recyclable, and hazardous waste via a live camera feed.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422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D3E1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YOLOv8, </a:t>
                      </a:r>
                      <a:r>
                        <a:rPr lang="en-IN" sz="12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Ultralytics</a:t>
                      </a:r>
                      <a:r>
                        <a:rPr lang="en-IN" sz="12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Raspberry Pi, Python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D3E1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2">
            <a:extLst>
              <a:ext uri="{FF2B5EF4-FFF2-40B4-BE49-F238E27FC236}">
                <a16:creationId xmlns:a16="http://schemas.microsoft.com/office/drawing/2014/main" id="{DC7F86C2-FFF8-6E4F-1CD0-5778A3B853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92156" y="-22087"/>
            <a:ext cx="56007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b="1" spc="-25" dirty="0">
                <a:latin typeface="Calibri"/>
                <a:cs typeface="Calibri"/>
              </a:rPr>
              <a:t>6</a:t>
            </a:fld>
            <a:endParaRPr b="1" spc="-25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6884" y="1828800"/>
            <a:ext cx="11238230" cy="328840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583565" marR="5080" indent="-571500">
              <a:lnSpc>
                <a:spcPct val="150000"/>
              </a:lnSpc>
              <a:spcBef>
                <a:spcPts val="140"/>
              </a:spcBef>
              <a:buFont typeface="+mj-lt"/>
              <a:buAutoNum type="arabicPeriod"/>
              <a:tabLst>
                <a:tab pos="583565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tatic</a:t>
            </a:r>
            <a:r>
              <a:rPr sz="24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schedules</a:t>
            </a:r>
            <a:r>
              <a:rPr sz="24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</a:t>
            </a:r>
            <a:r>
              <a:rPr sz="2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trucks</a:t>
            </a:r>
            <a:r>
              <a:rPr sz="24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regardless</a:t>
            </a:r>
            <a:r>
              <a:rPr sz="2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household</a:t>
            </a:r>
            <a:r>
              <a:rPr lang="en-IN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</a:t>
            </a:r>
            <a:r>
              <a:rPr lang="en-IN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83565" marR="310515" indent="-571500">
              <a:lnSpc>
                <a:spcPct val="150000"/>
              </a:lnSpc>
              <a:spcBef>
                <a:spcPts val="65"/>
              </a:spcBef>
              <a:buFont typeface="+mj-lt"/>
              <a:buAutoNum type="arabicPeriod"/>
              <a:tabLst>
                <a:tab pos="583565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eliance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recovery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facilities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(mrfs),</a:t>
            </a:r>
            <a:r>
              <a:rPr sz="2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2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hazardous</a:t>
            </a:r>
            <a:r>
              <a:rPr sz="24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workers.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83565" marR="106680" indent="-571500">
              <a:lnSpc>
                <a:spcPct val="150000"/>
              </a:lnSpc>
              <a:buFont typeface="+mj-lt"/>
              <a:buAutoNum type="arabicPeriod"/>
              <a:tabLst>
                <a:tab pos="583565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sz="24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sz="24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households</a:t>
            </a:r>
            <a:r>
              <a:rPr sz="24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municipal</a:t>
            </a:r>
            <a:r>
              <a:rPr sz="24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 collectors.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1F846FC0-A487-AA24-78D6-586AFBF69FD4}"/>
              </a:ext>
            </a:extLst>
          </p:cNvPr>
          <p:cNvSpPr txBox="1">
            <a:spLocks/>
          </p:cNvSpPr>
          <p:nvPr/>
        </p:nvSpPr>
        <p:spPr>
          <a:xfrm>
            <a:off x="1600199" y="76200"/>
            <a:ext cx="89916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07C2DE-CD20-D2DF-F802-423FA577AC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54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583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b="1" spc="-25" dirty="0">
                <a:latin typeface="Calibri"/>
                <a:cs typeface="Calibri"/>
              </a:rPr>
              <a:t>8</a:t>
            </a:fld>
            <a:endParaRPr b="1" spc="-25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1000" y="1215898"/>
            <a:ext cx="11049000" cy="493179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050" indent="-514350">
              <a:lnSpc>
                <a:spcPct val="150000"/>
              </a:lnSpc>
              <a:spcBef>
                <a:spcPts val="95"/>
              </a:spcBef>
              <a:buFont typeface="+mj-lt"/>
              <a:buAutoNum type="arabicPeriod"/>
              <a:tabLst>
                <a:tab pos="46926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source-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segregation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causes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severe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toxic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contamination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landfills.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marR="732790" indent="-514350">
              <a:lnSpc>
                <a:spcPct val="150000"/>
              </a:lnSpc>
              <a:buFont typeface="+mj-lt"/>
              <a:buAutoNum type="arabicPeriod"/>
              <a:tabLst>
                <a:tab pos="4699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Homemakers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instant,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guidance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dispose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specific,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packaging.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marR="848994" indent="-514350">
              <a:lnSpc>
                <a:spcPct val="150000"/>
              </a:lnSpc>
              <a:buFont typeface="+mj-lt"/>
              <a:buAutoNum type="arabicPeriod"/>
              <a:tabLst>
                <a:tab pos="4699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municipal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wastes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fuel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leads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overflowing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bins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unmonitored</a:t>
            </a:r>
            <a:r>
              <a:rPr sz="24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zones.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marR="568960" indent="-514350">
              <a:lnSpc>
                <a:spcPct val="150000"/>
              </a:lnSpc>
              <a:buFont typeface="+mj-lt"/>
              <a:buAutoNum type="arabicPeriod"/>
              <a:tabLst>
                <a:tab pos="4699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incentive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citizens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participate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marR="252095" indent="-514350">
              <a:lnSpc>
                <a:spcPct val="150000"/>
              </a:lnSpc>
              <a:spcBef>
                <a:spcPts val="5"/>
              </a:spcBef>
              <a:buFont typeface="+mj-lt"/>
              <a:buAutoNum type="arabicPeriod"/>
              <a:tabLst>
                <a:tab pos="4699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authorities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trends.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6EB9C9F2-93C0-DF54-D122-F470F35400AD}"/>
              </a:ext>
            </a:extLst>
          </p:cNvPr>
          <p:cNvSpPr txBox="1">
            <a:spLocks/>
          </p:cNvSpPr>
          <p:nvPr/>
        </p:nvSpPr>
        <p:spPr>
          <a:xfrm>
            <a:off x="2552700" y="43857"/>
            <a:ext cx="70866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IDENTIFICAITON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b="1" spc="-25" dirty="0">
                <a:latin typeface="Calibri"/>
                <a:cs typeface="Calibri"/>
              </a:rPr>
              <a:t>9</a:t>
            </a:fld>
            <a:endParaRPr b="1" spc="-25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1000" y="1239458"/>
            <a:ext cx="11345164" cy="437908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050" marR="1388745" indent="-514350" algn="just">
              <a:lnSpc>
                <a:spcPct val="150000"/>
              </a:lnSpc>
              <a:spcBef>
                <a:spcPts val="105"/>
              </a:spcBef>
              <a:buFont typeface="+mj-lt"/>
              <a:buAutoNum type="arabicPeriod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approach: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Mobile-friendly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Authority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marR="5080" indent="-514350" algn="just">
              <a:lnSpc>
                <a:spcPct val="150000"/>
              </a:lnSpc>
              <a:spcBef>
                <a:spcPts val="5"/>
              </a:spcBef>
              <a:buFont typeface="+mj-lt"/>
              <a:buAutoNum type="arabicPeriod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Teachable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instant,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offline-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capable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marR="221615" indent="-514350" algn="just">
              <a:lnSpc>
                <a:spcPct val="150000"/>
              </a:lnSpc>
              <a:buFont typeface="+mj-lt"/>
              <a:buAutoNum type="arabicPeriod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Cloud-synced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household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pickup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precise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geographic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coordinates.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050" marR="1828800" indent="-514350" algn="just">
              <a:lnSpc>
                <a:spcPct val="150000"/>
              </a:lnSpc>
              <a:buFont typeface="+mj-lt"/>
              <a:buAutoNum type="arabicPeriod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OSRM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(Open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Machine)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algorithmic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pathfinding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E6E49498-6AA6-00CC-71BF-4D6B3186F8E3}"/>
              </a:ext>
            </a:extLst>
          </p:cNvPr>
          <p:cNvSpPr txBox="1">
            <a:spLocks/>
          </p:cNvSpPr>
          <p:nvPr/>
        </p:nvSpPr>
        <p:spPr>
          <a:xfrm>
            <a:off x="1409699" y="36871"/>
            <a:ext cx="937260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B8D07E-956C-D19A-6067-A8416F75BE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00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06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b="1" spc="-25" dirty="0">
                <a:latin typeface="Calibri"/>
                <a:cs typeface="Calibri"/>
              </a:rPr>
              <a:t>11</a:t>
            </a:fld>
            <a:endParaRPr b="1" spc="-25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5245" y="2438400"/>
            <a:ext cx="5638800" cy="270522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6415" marR="5080" indent="-514350" algn="l">
              <a:lnSpc>
                <a:spcPts val="3020"/>
              </a:lnSpc>
              <a:spcBef>
                <a:spcPts val="2950"/>
              </a:spcBef>
              <a:buAutoNum type="arabicPeriod"/>
              <a:tabLst>
                <a:tab pos="81851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Smartphone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(Camera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</a:t>
            </a:r>
            <a:r>
              <a:rPr lang="en-IN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enabled)</a:t>
            </a:r>
            <a:r>
              <a:rPr lang="en-IN"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users.</a:t>
            </a:r>
            <a:endParaRPr lang="en-IN" sz="24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6415" marR="5080" indent="-514350" algn="l">
              <a:lnSpc>
                <a:spcPts val="3020"/>
              </a:lnSpc>
              <a:spcBef>
                <a:spcPts val="2950"/>
              </a:spcBef>
              <a:buAutoNum type="arabicPeriod"/>
              <a:tabLst>
                <a:tab pos="81851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PC/Laptop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Municipal</a:t>
            </a: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Authority</a:t>
            </a:r>
            <a:r>
              <a:rPr lang="en-IN"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Dashboard.</a:t>
            </a:r>
            <a:endParaRPr lang="en-IN" sz="24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6415" marR="5080" indent="-514350" algn="l">
              <a:lnSpc>
                <a:spcPts val="3020"/>
              </a:lnSpc>
              <a:spcBef>
                <a:spcPts val="2950"/>
              </a:spcBef>
              <a:buAutoNum type="arabicPeriod"/>
              <a:tabLst>
                <a:tab pos="81851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hosting.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xfrm>
            <a:off x="6160011" y="2257691"/>
            <a:ext cx="5841488" cy="332110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52780" marR="75565" indent="-514350">
              <a:lnSpc>
                <a:spcPct val="150000"/>
              </a:lnSpc>
              <a:spcBef>
                <a:spcPts val="150"/>
              </a:spcBef>
              <a:buFont typeface="+mj-lt"/>
              <a:buAutoNum type="arabicPeriod"/>
              <a:tabLst>
                <a:tab pos="536575" algn="l"/>
                <a:tab pos="596265" algn="l"/>
              </a:tabLst>
            </a:pP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sz="2400" b="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HTML5,</a:t>
            </a:r>
            <a:r>
              <a:rPr sz="2400" b="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Vanilla</a:t>
            </a:r>
            <a:r>
              <a:rPr sz="2400" b="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</a:t>
            </a:r>
            <a:r>
              <a:rPr lang="en-IN" sz="2400" b="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(Neo-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Brutalism</a:t>
            </a:r>
            <a:r>
              <a:rPr sz="2400" b="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UI),</a:t>
            </a:r>
            <a:r>
              <a:rPr sz="2400" b="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JavaScript.</a:t>
            </a:r>
            <a:endParaRPr lang="en-IN" sz="2400" b="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52780" marR="75565" indent="-514350">
              <a:lnSpc>
                <a:spcPct val="150000"/>
              </a:lnSpc>
              <a:spcBef>
                <a:spcPts val="150"/>
              </a:spcBef>
              <a:buFont typeface="+mj-lt"/>
              <a:buAutoNum type="arabicPeriod"/>
              <a:tabLst>
                <a:tab pos="536575" algn="l"/>
                <a:tab pos="596265" algn="l"/>
              </a:tabLst>
            </a:pP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sz="2400" b="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2400" b="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Mapping:</a:t>
            </a:r>
            <a:r>
              <a:rPr sz="2400" b="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TensorFlow.js,</a:t>
            </a:r>
            <a:r>
              <a:rPr lang="en-IN" sz="2400"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Leaflet.js,</a:t>
            </a:r>
            <a:r>
              <a:rPr lang="en-IN" sz="2400" b="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OpenStreetMap, OSRM.</a:t>
            </a:r>
          </a:p>
          <a:p>
            <a:pPr marL="652780" marR="75565" indent="-514350">
              <a:lnSpc>
                <a:spcPct val="150000"/>
              </a:lnSpc>
              <a:spcBef>
                <a:spcPts val="150"/>
              </a:spcBef>
              <a:buFont typeface="+mj-lt"/>
              <a:buAutoNum type="arabicPeriod"/>
              <a:tabLst>
                <a:tab pos="536575" algn="l"/>
                <a:tab pos="596265" algn="l"/>
              </a:tabLst>
            </a:pP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sz="2400" b="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</a:t>
            </a:r>
            <a:r>
              <a:rPr sz="2400" b="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r>
              <a:rPr lang="en-IN" sz="2400"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(Simulated)</a:t>
            </a:r>
            <a:r>
              <a:rPr sz="2400" b="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2400" b="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</a:t>
            </a:r>
            <a:r>
              <a:rPr lang="en-IN" sz="2400"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(Production).</a:t>
            </a: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A50B6B4C-80B4-6694-8685-CE732C6A7BA4}"/>
              </a:ext>
            </a:extLst>
          </p:cNvPr>
          <p:cNvSpPr txBox="1">
            <a:spLocks/>
          </p:cNvSpPr>
          <p:nvPr/>
        </p:nvSpPr>
        <p:spPr>
          <a:xfrm>
            <a:off x="886030" y="118561"/>
            <a:ext cx="11734799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AND HARDWARE REQUIREMENTS</a:t>
            </a:r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4A0AAB84-8E31-D550-0C69-0D0DC42592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600" y="1681070"/>
            <a:ext cx="25908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</a:p>
        </p:txBody>
      </p:sp>
      <p:sp>
        <p:nvSpPr>
          <p:cNvPr id="12" name="object 2">
            <a:extLst>
              <a:ext uri="{FF2B5EF4-FFF2-40B4-BE49-F238E27FC236}">
                <a16:creationId xmlns:a16="http://schemas.microsoft.com/office/drawing/2014/main" id="{DAEF064A-4972-86EB-090B-154A9B8B7C14}"/>
              </a:ext>
            </a:extLst>
          </p:cNvPr>
          <p:cNvSpPr txBox="1">
            <a:spLocks/>
          </p:cNvSpPr>
          <p:nvPr/>
        </p:nvSpPr>
        <p:spPr>
          <a:xfrm>
            <a:off x="7880605" y="1681070"/>
            <a:ext cx="24003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b="1" spc="-25" dirty="0">
                <a:latin typeface="Calibri"/>
                <a:cs typeface="Calibri"/>
              </a:rPr>
              <a:t>12</a:t>
            </a:fld>
            <a:endParaRPr b="1" spc="-25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2000" y="700191"/>
            <a:ext cx="9333230" cy="575734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5600" indent="-346075">
              <a:lnSpc>
                <a:spcPct val="150000"/>
              </a:lnSpc>
              <a:spcBef>
                <a:spcPts val="660"/>
              </a:spcBef>
              <a:buSzPct val="97222"/>
              <a:buAutoNum type="arabicPeriod"/>
              <a:tabLst>
                <a:tab pos="35560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indent="-456565">
              <a:lnSpc>
                <a:spcPct val="150000"/>
              </a:lnSpc>
              <a:spcBef>
                <a:spcPts val="565"/>
              </a:spcBef>
              <a:buSzPct val="97222"/>
              <a:buAutoNum type="arabicPeriod"/>
              <a:tabLst>
                <a:tab pos="46926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Scanner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Segregation</a:t>
            </a:r>
          </a:p>
          <a:p>
            <a:pPr marL="12700" marR="5080" indent="457200">
              <a:lnSpc>
                <a:spcPct val="150000"/>
              </a:lnSpc>
              <a:spcBef>
                <a:spcPts val="1055"/>
              </a:spcBef>
              <a:buSzPct val="97222"/>
              <a:buAutoNum type="arabicPeriod"/>
              <a:tabLst>
                <a:tab pos="4699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Pickup</a:t>
            </a:r>
            <a:r>
              <a:rPr sz="2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Gamified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Rewards</a:t>
            </a:r>
            <a:r>
              <a:rPr sz="2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(Green Points)</a:t>
            </a:r>
            <a:endParaRPr lang="en-IN" sz="24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indent="457200">
              <a:lnSpc>
                <a:spcPct val="150000"/>
              </a:lnSpc>
              <a:spcBef>
                <a:spcPts val="1055"/>
              </a:spcBef>
              <a:buSzPct val="97222"/>
              <a:buAutoNum type="arabicPeriod"/>
              <a:tabLst>
                <a:tab pos="46990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Segregation  guide</a:t>
            </a:r>
          </a:p>
          <a:p>
            <a:pPr marL="12700" marR="5080" indent="457200">
              <a:lnSpc>
                <a:spcPct val="150000"/>
              </a:lnSpc>
              <a:spcBef>
                <a:spcPts val="1055"/>
              </a:spcBef>
              <a:buSzPct val="97222"/>
              <a:buAutoNum type="arabicPeriod"/>
              <a:tabLst>
                <a:tab pos="46990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Optimizer</a:t>
            </a:r>
          </a:p>
          <a:p>
            <a:pPr marL="469900" indent="-457200">
              <a:lnSpc>
                <a:spcPct val="150000"/>
              </a:lnSpc>
              <a:spcBef>
                <a:spcPts val="515"/>
              </a:spcBef>
              <a:buSzPct val="97222"/>
              <a:buAutoNum type="arabicPeriod"/>
              <a:tabLst>
                <a:tab pos="46990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Authority Dashboard &amp; Waste Analytics:</a:t>
            </a:r>
          </a:p>
          <a:p>
            <a:pPr marL="469900" indent="-457200">
              <a:lnSpc>
                <a:spcPct val="150000"/>
              </a:lnSpc>
              <a:spcBef>
                <a:spcPts val="515"/>
              </a:spcBef>
              <a:buSzPct val="97222"/>
              <a:buAutoNum type="arabicPeriod"/>
              <a:tabLst>
                <a:tab pos="46990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Worker Dashboard</a:t>
            </a:r>
          </a:p>
          <a:p>
            <a:pPr marL="469900" indent="-457200">
              <a:lnSpc>
                <a:spcPct val="150000"/>
              </a:lnSpc>
              <a:spcBef>
                <a:spcPts val="515"/>
              </a:spcBef>
              <a:buSzPct val="97222"/>
              <a:buAutoNum type="arabicPeriod"/>
              <a:tabLst>
                <a:tab pos="46990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Worker Pickup</a:t>
            </a:r>
          </a:p>
          <a:p>
            <a:pPr marL="469900" indent="-457200">
              <a:lnSpc>
                <a:spcPct val="150000"/>
              </a:lnSpc>
              <a:spcBef>
                <a:spcPts val="515"/>
              </a:spcBef>
              <a:buSzPct val="97222"/>
              <a:buAutoNum type="arabicPeriod"/>
              <a:tabLst>
                <a:tab pos="46990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Proof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B849C14C-5ACD-BAAA-58EA-3539DEC8EC8A}"/>
              </a:ext>
            </a:extLst>
          </p:cNvPr>
          <p:cNvSpPr txBox="1">
            <a:spLocks/>
          </p:cNvSpPr>
          <p:nvPr/>
        </p:nvSpPr>
        <p:spPr>
          <a:xfrm>
            <a:off x="4858385" y="100773"/>
            <a:ext cx="2475229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1150004"/>
            <a:ext cx="4522050" cy="13971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525" algn="ctr">
              <a:lnSpc>
                <a:spcPct val="100000"/>
              </a:lnSpc>
              <a:spcBef>
                <a:spcPts val="660"/>
              </a:spcBef>
              <a:buSzPct val="97222"/>
              <a:tabLst>
                <a:tab pos="355600" algn="l"/>
              </a:tabLst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IN" sz="30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  <a:r>
              <a:rPr lang="en-IN" sz="3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IN" sz="3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IN" sz="3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IN" sz="3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</a:t>
            </a:r>
            <a:r>
              <a:rPr lang="en-IN" sz="30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EB63EF-7DFC-E08F-3CD8-75CA25EB4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769187"/>
            <a:ext cx="5303520" cy="3577261"/>
          </a:xfrm>
        </p:spPr>
        <p:txBody>
          <a:bodyPr/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 (RBAC).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User Authentication.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Management &amp; Authorization.</a:t>
            </a:r>
          </a:p>
          <a:p>
            <a:pPr>
              <a:lnSpc>
                <a:spcPct val="200000"/>
              </a:lnSpc>
            </a:pPr>
            <a:br>
              <a:rPr lang="en-US" sz="2400" dirty="0">
                <a:latin typeface="Arial Narrow" panose="020B0606020202030204" pitchFamily="34" charset="0"/>
              </a:rPr>
            </a:br>
            <a:endParaRPr lang="en-IN" sz="2400" dirty="0">
              <a:latin typeface="Arial Narrow" panose="020B0606020202030204" pitchFamily="34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b="1" spc="-25" dirty="0">
                <a:latin typeface="Calibri"/>
                <a:cs typeface="Calibri"/>
              </a:rPr>
              <a:t>13</a:t>
            </a:fld>
            <a:endParaRPr b="1" spc="-25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41" r="27816"/>
          <a:stretch>
            <a:fillRect/>
          </a:stretch>
        </p:blipFill>
        <p:spPr>
          <a:xfrm>
            <a:off x="6217920" y="1150004"/>
            <a:ext cx="5303520" cy="46817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A81183E-3A42-9DF7-A5D3-153D9472A323}"/>
              </a:ext>
            </a:extLst>
          </p:cNvPr>
          <p:cNvSpPr txBox="1"/>
          <p:nvPr/>
        </p:nvSpPr>
        <p:spPr>
          <a:xfrm>
            <a:off x="2133599" y="161501"/>
            <a:ext cx="7924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3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IMPLEMENTATION OF MODULE-1</a:t>
            </a:r>
            <a:endParaRPr lang="en-IN" sz="3600" b="0" dirty="0">
              <a:effectLst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3622" y="1689293"/>
            <a:ext cx="6756653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565"/>
              </a:spcBef>
              <a:buSzPct val="97222"/>
              <a:tabLst>
                <a:tab pos="469265" algn="l"/>
              </a:tabLst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en-IN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</a:t>
            </a:r>
            <a:r>
              <a:rPr lang="en-IN" sz="3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Scanner</a:t>
            </a:r>
            <a:r>
              <a:rPr lang="en-IN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IN"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Segregation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6E99D53-1824-78C8-F44F-91CD5A42B01D}"/>
              </a:ext>
            </a:extLst>
          </p:cNvPr>
          <p:cNvPicPr>
            <a:picLocks noGrp="1" noChangeAspect="1"/>
          </p:cNvPicPr>
          <p:nvPr>
            <p:ph sz="half" idx="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688" y="3075379"/>
            <a:ext cx="5013325" cy="240745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b="1" spc="-25" dirty="0">
                <a:latin typeface="Calibri"/>
                <a:cs typeface="Calibri"/>
              </a:rPr>
              <a:t>14</a:t>
            </a:fld>
            <a:endParaRPr b="1" spc="-25" dirty="0">
              <a:latin typeface="Calibri"/>
              <a:cs typeface="Calibri"/>
            </a:endParaRPr>
          </a:p>
        </p:txBody>
      </p:sp>
      <p:sp>
        <p:nvSpPr>
          <p:cNvPr id="10" name="object 2"/>
          <p:cNvSpPr txBox="1">
            <a:spLocks noGrp="1"/>
          </p:cNvSpPr>
          <p:nvPr>
            <p:ph sz="half" idx="2"/>
          </p:nvPr>
        </p:nvSpPr>
        <p:spPr>
          <a:xfrm>
            <a:off x="809367" y="2590800"/>
            <a:ext cx="5303838" cy="268214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Image-Based Waste Detection.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Waste Classification.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Segregation Assistance &amp; Accuracy Improvement.</a:t>
            </a:r>
            <a:br>
              <a:rPr lang="en-US" sz="2400" dirty="0">
                <a:latin typeface="Arial Narrow" panose="020B0606020202030204" pitchFamily="34" charset="0"/>
              </a:rPr>
            </a:br>
            <a:endParaRPr lang="en-IN" sz="2400" dirty="0">
              <a:latin typeface="Arial Narrow" panose="020B0606020202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6C58FC-320F-28AE-58EF-9B0D5249D482}"/>
              </a:ext>
            </a:extLst>
          </p:cNvPr>
          <p:cNvSpPr txBox="1"/>
          <p:nvPr/>
        </p:nvSpPr>
        <p:spPr>
          <a:xfrm>
            <a:off x="2133599" y="161501"/>
            <a:ext cx="7924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3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IMPLEMENTATION OF MODULE-2</a:t>
            </a:r>
            <a:endParaRPr lang="en-IN" sz="3600" b="0" dirty="0">
              <a:effectLst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200" y="940273"/>
            <a:ext cx="7212907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Pickup</a:t>
            </a:r>
            <a:r>
              <a:rPr lang="en-IN" sz="3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</a:t>
            </a:r>
            <a:r>
              <a:rPr lang="en-IN" sz="32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IN"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Gamified</a:t>
            </a:r>
            <a:r>
              <a:rPr lang="en-IN" sz="32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Rewards</a:t>
            </a:r>
            <a:endParaRPr sz="3200" spc="-4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F593E0-EE9E-1CC7-8A73-A5B3FD19BA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916089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 Pickup Scheduling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 Slot Selection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Automated Pickup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Confirmation Reward Points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Eco-Friendly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Incentives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Leaderboard &amp; User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Ranking Achievement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Badges Notification for Rewards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4B9D548-128A-C0E9-E5B6-C7798D5C0337}"/>
              </a:ext>
            </a:extLst>
          </p:cNvPr>
          <p:cNvPicPr>
            <a:picLocks noGrp="1" noChangeAspect="1"/>
          </p:cNvPicPr>
          <p:nvPr>
            <p:ph sz="half" idx="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2828571"/>
            <a:ext cx="5013325" cy="241362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b="1" spc="-25" dirty="0">
                <a:latin typeface="Calibri"/>
                <a:cs typeface="Calibri"/>
              </a:rPr>
              <a:t>15</a:t>
            </a:fld>
            <a:endParaRPr b="1" spc="-25" dirty="0">
              <a:latin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8743AA-B206-69F4-5137-B1DA522F0F02}"/>
              </a:ext>
            </a:extLst>
          </p:cNvPr>
          <p:cNvSpPr txBox="1"/>
          <p:nvPr/>
        </p:nvSpPr>
        <p:spPr>
          <a:xfrm>
            <a:off x="2133599" y="161501"/>
            <a:ext cx="7924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3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IMPLEMENTATION OF MODULE-3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200" y="1373452"/>
            <a:ext cx="482953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SEGREGATION  GUIDE</a:t>
            </a:r>
            <a:r>
              <a:rPr lang="en-IN" sz="32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sz="3200" spc="-4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BC06E6-8612-69B9-A502-1A3371AEF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800" y="2209800"/>
            <a:ext cx="5791200" cy="4919616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 Category Guidelines Visual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Identification Support Step-by-Step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Segregation Instructions Do’s and Don’ts of Waste Disposal Color-Coded Waste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Classification Common Waste Examples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Awareness Tips Error Prevention Suggestions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2E2B96E-2711-4A0C-2A84-F96F2884DA76}"/>
              </a:ext>
            </a:extLst>
          </p:cNvPr>
          <p:cNvPicPr>
            <a:picLocks noGrp="1" noChangeAspect="1"/>
          </p:cNvPicPr>
          <p:nvPr>
            <p:ph sz="half" idx="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2389619"/>
            <a:ext cx="5013325" cy="227998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b="1" spc="-25" dirty="0">
                <a:latin typeface="Calibri"/>
                <a:cs typeface="Calibri"/>
              </a:rPr>
              <a:t>16</a:t>
            </a:fld>
            <a:endParaRPr b="1" spc="-25" dirty="0">
              <a:latin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E7B750-238A-C872-E4A3-8AB7B799006E}"/>
              </a:ext>
            </a:extLst>
          </p:cNvPr>
          <p:cNvSpPr txBox="1"/>
          <p:nvPr/>
        </p:nvSpPr>
        <p:spPr>
          <a:xfrm>
            <a:off x="2133599" y="161501"/>
            <a:ext cx="7924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3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IMPLEMENTATION OF MODULE-4</a:t>
            </a:r>
            <a:endParaRPr lang="en-IN" sz="3600" b="0" dirty="0">
              <a:effectLst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9691" y="1524000"/>
            <a:ext cx="4446072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OPTIMIZER</a:t>
            </a:r>
            <a:endParaRPr sz="3200" spc="-4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7C9F55-8FA0-2CE4-E129-F229FDC6E7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4800" y="2209800"/>
            <a:ext cx="6096000" cy="4919616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Path Calculation Shortest Distance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Routing Multi-Stop Route Planning Traffic-Aware Navigation Dynamic Route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Adjustment Fuel Efficiency Optimization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Priority-Based Pickup Scheduling Real-Time Route Updates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b="1" spc="-25" dirty="0">
                <a:latin typeface="Calibri"/>
                <a:cs typeface="Calibri"/>
              </a:rPr>
              <a:t>17</a:t>
            </a:fld>
            <a:endParaRPr b="1" spc="-25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rcRect l="25625" r="26875"/>
          <a:stretch>
            <a:fillRect/>
          </a:stretch>
        </p:blipFill>
        <p:spPr>
          <a:xfrm>
            <a:off x="6507482" y="1038308"/>
            <a:ext cx="5489429" cy="540939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9118B2-C901-CE4C-4678-ACC54240C517}"/>
              </a:ext>
            </a:extLst>
          </p:cNvPr>
          <p:cNvSpPr txBox="1"/>
          <p:nvPr/>
        </p:nvSpPr>
        <p:spPr>
          <a:xfrm>
            <a:off x="2133599" y="161501"/>
            <a:ext cx="7924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3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IMPLEMENTATION OF MODULE-5</a:t>
            </a:r>
            <a:endParaRPr lang="en-IN" sz="3600" b="0" dirty="0">
              <a:effectLst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4179" y="1159308"/>
            <a:ext cx="5530341" cy="9970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spcBef>
                <a:spcPts val="95"/>
              </a:spcBef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AUTHORITY DASHBOARD &amp; WASTE ANALYTICS</a:t>
            </a:r>
            <a:endParaRPr lang="en-IN" sz="3200" spc="-4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0097F8-7711-1CC9-47B2-6A9B6CB7D9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0" y="2374963"/>
            <a:ext cx="5303520" cy="3808094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Admin Dashboard Real-Time Request Monitoring Area-Wise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Waste Analysis Waste Type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Distribution Vehicle Performance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Tracking Pickup Status Overview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Complaint Management System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Monthly &amp; Yearly Reports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b="1" spc="-25" dirty="0">
                <a:latin typeface="Calibri"/>
                <a:cs typeface="Calibri"/>
              </a:rPr>
              <a:t>18</a:t>
            </a:fld>
            <a:endParaRPr b="1" spc="-25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rcRect l="23751" r="25625"/>
          <a:stretch>
            <a:fillRect/>
          </a:stretch>
        </p:blipFill>
        <p:spPr>
          <a:xfrm>
            <a:off x="6097779" y="990600"/>
            <a:ext cx="5713221" cy="52881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E2513B3-5AAB-DA27-23EC-1096B6E57B31}"/>
              </a:ext>
            </a:extLst>
          </p:cNvPr>
          <p:cNvSpPr txBox="1"/>
          <p:nvPr/>
        </p:nvSpPr>
        <p:spPr>
          <a:xfrm>
            <a:off x="2133599" y="161501"/>
            <a:ext cx="7924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3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IMPLEMENTATION OF MODULE-6</a:t>
            </a:r>
            <a:endParaRPr lang="en-IN" sz="3600" b="0" dirty="0">
              <a:effectLst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125200" y="6402421"/>
            <a:ext cx="18097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spc="-25" dirty="0">
                <a:latin typeface="Calibri"/>
                <a:cs typeface="Calibri"/>
              </a:rPr>
              <a:t>19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35126" y="1806733"/>
            <a:ext cx="4927853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565"/>
              </a:spcBef>
              <a:buSzPct val="97222"/>
              <a:tabLst>
                <a:tab pos="469900" algn="l"/>
              </a:tabLst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WORKER DASHBOARD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CA0931-F47D-A40A-F250-15D3935ED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126" y="2590800"/>
            <a:ext cx="5613274" cy="3811621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Assigned Pickup List Daily Task Overview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GPS Navigation Support Route Guidance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 Pickup Status Update Real-Time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Notifications Missed Pickup Reporting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50" r="30044" b="16217"/>
          <a:stretch>
            <a:fillRect/>
          </a:stretch>
        </p:blipFill>
        <p:spPr>
          <a:xfrm>
            <a:off x="6904051" y="1806733"/>
            <a:ext cx="4710304" cy="40674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76845B-6840-EC52-0D82-AE914A84E739}"/>
              </a:ext>
            </a:extLst>
          </p:cNvPr>
          <p:cNvSpPr txBox="1"/>
          <p:nvPr/>
        </p:nvSpPr>
        <p:spPr>
          <a:xfrm>
            <a:off x="2133599" y="161501"/>
            <a:ext cx="7924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3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IMPLEMENTATION OF MODULE-7</a:t>
            </a:r>
            <a:endParaRPr lang="en-IN" sz="3600" b="0" dirty="0">
              <a:effectLst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CE87A-D684-6420-3649-10DFDFE95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43ED9CF-7310-C775-D1D7-E75AF8D8049B}"/>
              </a:ext>
            </a:extLst>
          </p:cNvPr>
          <p:cNvSpPr txBox="1"/>
          <p:nvPr/>
        </p:nvSpPr>
        <p:spPr>
          <a:xfrm>
            <a:off x="11125200" y="6400800"/>
            <a:ext cx="18097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Calibri"/>
                <a:cs typeface="Calibri"/>
              </a:rPr>
              <a:t>2</a:t>
            </a:r>
            <a:r>
              <a:rPr lang="en-IN" sz="1200" b="1" spc="-25" dirty="0">
                <a:latin typeface="Calibri"/>
                <a:cs typeface="Calibri"/>
              </a:rPr>
              <a:t>0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2EB8711-7EF3-CD4A-93E0-AC3CE248C1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524000"/>
            <a:ext cx="4470653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565"/>
              </a:spcBef>
              <a:buSzPct val="97222"/>
              <a:tabLst>
                <a:tab pos="469900" algn="l"/>
              </a:tabLst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WORKER PICKUP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6B3F7C-1230-141E-244F-483018491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2770" y="2252390"/>
            <a:ext cx="5675630" cy="3257623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Assigned Pickup Details Location-Based Pickup Waste Verification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Confirmation Status Update (Collected/Not Collected) Tracking of Collection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Sync with Admin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F64843C9-D260-8717-04F4-972D8B63664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11" r="24619"/>
          <a:stretch>
            <a:fillRect/>
          </a:stretch>
        </p:blipFill>
        <p:spPr>
          <a:xfrm>
            <a:off x="6951406" y="1752600"/>
            <a:ext cx="4685030" cy="400174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13BDD88-5837-D226-2EE1-B19933B8273B}"/>
              </a:ext>
            </a:extLst>
          </p:cNvPr>
          <p:cNvSpPr txBox="1"/>
          <p:nvPr/>
        </p:nvSpPr>
        <p:spPr>
          <a:xfrm>
            <a:off x="2133599" y="161501"/>
            <a:ext cx="7924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3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IMPLEMENTATION OF MODULE-8</a:t>
            </a:r>
            <a:endParaRPr lang="en-IN" sz="36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349893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06C99-CE8E-DF12-BB19-43004A93A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87308F8-FF24-53A9-473D-858E4C44776A}"/>
              </a:ext>
            </a:extLst>
          </p:cNvPr>
          <p:cNvSpPr txBox="1"/>
          <p:nvPr/>
        </p:nvSpPr>
        <p:spPr>
          <a:xfrm>
            <a:off x="11125200" y="643904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Calibri"/>
                <a:cs typeface="Calibri"/>
              </a:rPr>
              <a:t>21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FE52566-6252-9634-4BC3-B053E82906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1752600"/>
            <a:ext cx="2032253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565"/>
              </a:spcBef>
              <a:buSzPct val="97222"/>
              <a:tabLst>
                <a:tab pos="469900" algn="l"/>
              </a:tabLst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PROOF</a:t>
            </a:r>
            <a:r>
              <a:rPr lang="en-US" dirty="0">
                <a:latin typeface="Arial Narrow" panose="020B0606020202030204" pitchFamily="34" charset="0"/>
                <a:cs typeface="Times New Roman"/>
              </a:rPr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3A6BD3-1BD0-031C-6D38-72DFDFF91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2667000"/>
            <a:ext cx="6065521" cy="3257623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 Capture of Collected Waste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Proof to Server Admin Verification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Access User Confirmation Notification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Secure Data Storage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B45BFD91-838B-39D3-C81C-F871C8F2359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765"/>
          <a:stretch>
            <a:fillRect/>
          </a:stretch>
        </p:blipFill>
        <p:spPr>
          <a:xfrm>
            <a:off x="7315200" y="1560134"/>
            <a:ext cx="3752134" cy="42310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D444CD9-884D-E925-1305-471DAC5B68BA}"/>
              </a:ext>
            </a:extLst>
          </p:cNvPr>
          <p:cNvSpPr txBox="1"/>
          <p:nvPr/>
        </p:nvSpPr>
        <p:spPr>
          <a:xfrm>
            <a:off x="2133599" y="161501"/>
            <a:ext cx="7924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3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IMPLEMENTATION OF MODULE-9</a:t>
            </a:r>
            <a:endParaRPr lang="en-IN" sz="36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184663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1068811" y="6447704"/>
            <a:ext cx="24447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b="1" spc="-25" dirty="0"/>
              <a:t>22</a:t>
            </a:fld>
            <a:endParaRPr b="1"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804161"/>
            <a:ext cx="10095865" cy="3443891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518160" marR="5080" indent="-514350">
              <a:lnSpc>
                <a:spcPct val="150000"/>
              </a:lnSpc>
              <a:spcBef>
                <a:spcPts val="480"/>
              </a:spcBef>
              <a:buSzPct val="94642"/>
              <a:buFont typeface="+mj-lt"/>
              <a:buAutoNum type="arabicPeriod"/>
              <a:tabLst>
                <a:tab pos="27876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bridges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logistical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citizens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municipal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authorities</a:t>
            </a: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8160" marR="5080" indent="-514350">
              <a:lnSpc>
                <a:spcPct val="150000"/>
              </a:lnSpc>
              <a:spcBef>
                <a:spcPts val="480"/>
              </a:spcBef>
              <a:buSzPct val="94642"/>
              <a:buFont typeface="+mj-lt"/>
              <a:buAutoNum type="arabicPeriod"/>
              <a:tabLst>
                <a:tab pos="27876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scanner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drastically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friction,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segregation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everyone</a:t>
            </a: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8160" marR="5080" indent="-514350">
              <a:lnSpc>
                <a:spcPct val="150000"/>
              </a:lnSpc>
              <a:spcBef>
                <a:spcPts val="480"/>
              </a:spcBef>
              <a:buSzPct val="94642"/>
              <a:buFont typeface="+mj-lt"/>
              <a:buAutoNum type="arabicPeriod"/>
              <a:tabLst>
                <a:tab pos="27876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OSRM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transforms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municipal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logistics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schedules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driven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operations,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saving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4FCEED-8B81-74DB-3EB5-2A694FC8655E}"/>
              </a:ext>
            </a:extLst>
          </p:cNvPr>
          <p:cNvSpPr txBox="1"/>
          <p:nvPr/>
        </p:nvSpPr>
        <p:spPr>
          <a:xfrm>
            <a:off x="2133600" y="22123"/>
            <a:ext cx="7924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3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CONCLUSION</a:t>
            </a:r>
            <a:endParaRPr lang="en-IN" sz="3600" b="0" dirty="0">
              <a:effectLst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1068811" y="6447704"/>
            <a:ext cx="24447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b="1" spc="-25" dirty="0"/>
              <a:t>23</a:t>
            </a:fld>
            <a:endParaRPr b="1"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77708" y="1219200"/>
            <a:ext cx="10213340" cy="4643707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527050" marR="417830" indent="-514350" algn="just">
              <a:lnSpc>
                <a:spcPct val="150000"/>
              </a:lnSpc>
              <a:spcBef>
                <a:spcPts val="535"/>
              </a:spcBef>
              <a:buFont typeface="+mj-lt"/>
              <a:buAutoNum type="arabicPeriod"/>
              <a:tabLst>
                <a:tab pos="419100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</a:t>
            </a:r>
            <a:r>
              <a:rPr lang="en-US"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en-US"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model's</a:t>
            </a:r>
            <a:r>
              <a:rPr lang="en-US"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US"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accurately</a:t>
            </a:r>
            <a:r>
              <a:rPr lang="en-US"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crushed,</a:t>
            </a:r>
            <a:r>
              <a:rPr lang="en-US"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dirty,</a:t>
            </a:r>
            <a:r>
              <a:rPr lang="en-US"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</a:t>
            </a:r>
            <a:r>
              <a:rPr lang="en-US"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localized</a:t>
            </a:r>
            <a:r>
              <a:rPr lang="en-US"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</a:t>
            </a:r>
            <a:r>
              <a:rPr lang="en-US"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household</a:t>
            </a:r>
            <a:r>
              <a:rPr lang="en-US"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waste.</a:t>
            </a:r>
          </a:p>
          <a:p>
            <a:pPr marL="527050" marR="417830" indent="-514350" algn="just">
              <a:lnSpc>
                <a:spcPct val="150000"/>
              </a:lnSpc>
              <a:spcBef>
                <a:spcPts val="535"/>
              </a:spcBef>
              <a:buFont typeface="+mj-lt"/>
              <a:buAutoNum type="arabicPeriod"/>
              <a:tabLst>
                <a:tab pos="419100" algn="l"/>
              </a:tabLst>
            </a:pP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</a:t>
            </a:r>
            <a:r>
              <a:rPr lang="en-US"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</a:t>
            </a:r>
            <a:r>
              <a:rPr lang="en-US"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</a:t>
            </a:r>
            <a:r>
              <a:rPr lang="en-US"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lang="en-US"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en-US"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</a:t>
            </a:r>
            <a:r>
              <a:rPr lang="en-US"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</a:t>
            </a:r>
            <a:r>
              <a:rPr lang="en-US"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en-US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fill-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levels</a:t>
            </a:r>
            <a:r>
              <a:rPr lang="en-US"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directly</a:t>
            </a:r>
            <a:r>
              <a:rPr lang="en-US"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Authority</a:t>
            </a:r>
            <a:r>
              <a:rPr lang="en-US"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Heatmap.</a:t>
            </a:r>
          </a:p>
          <a:p>
            <a:pPr marL="527050" marR="417830" indent="-514350" algn="just">
              <a:lnSpc>
                <a:spcPct val="150000"/>
              </a:lnSpc>
              <a:spcBef>
                <a:spcPts val="535"/>
              </a:spcBef>
              <a:buFont typeface="+mj-lt"/>
              <a:buAutoNum type="arabicPeriod"/>
              <a:tabLst>
                <a:tab pos="419100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Partner</a:t>
            </a:r>
            <a:r>
              <a:rPr lang="en-US"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</a:t>
            </a:r>
            <a:r>
              <a:rPr lang="en-US"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eco-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friendly</a:t>
            </a:r>
            <a:r>
              <a:rPr lang="en-US"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businesses</a:t>
            </a:r>
            <a:r>
              <a:rPr lang="en-US"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</a:t>
            </a:r>
            <a:r>
              <a:rPr lang="en-US"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r>
              <a:rPr lang="en-US"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</a:t>
            </a:r>
            <a:r>
              <a:rPr lang="en-US"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</a:t>
            </a:r>
            <a:r>
              <a:rPr lang="en-US"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</a:t>
            </a:r>
            <a:r>
              <a:rPr lang="en-US"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</a:t>
            </a: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en-US"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</a:t>
            </a:r>
            <a:r>
              <a:rPr lang="en-US"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discounts</a:t>
            </a:r>
            <a:r>
              <a:rPr lang="en-US"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</a:t>
            </a: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</a:t>
            </a: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A9E853-6E4E-2F90-6318-A7A314704F44}"/>
              </a:ext>
            </a:extLst>
          </p:cNvPr>
          <p:cNvSpPr txBox="1"/>
          <p:nvPr/>
        </p:nvSpPr>
        <p:spPr>
          <a:xfrm>
            <a:off x="2133600" y="22123"/>
            <a:ext cx="7924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3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FUTURE ENHANCEMENTS</a:t>
            </a:r>
            <a:endParaRPr lang="en-IN" sz="3600" b="0" dirty="0">
              <a:effectLst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344</TotalTime>
  <Words>1230</Words>
  <Application>Microsoft Office PowerPoint</Application>
  <PresentationFormat>Widescreen</PresentationFormat>
  <Paragraphs>202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Arial Narrow</vt:lpstr>
      <vt:lpstr>Calibri</vt:lpstr>
      <vt:lpstr>Times New Roman</vt:lpstr>
      <vt:lpstr>Office Theme</vt:lpstr>
      <vt:lpstr>PowerPoint Presentation</vt:lpstr>
      <vt:lpstr>Clean City  AI-Powered Waste Management Ecosystem</vt:lpstr>
      <vt:lpstr>OBJECTIVE</vt:lpstr>
      <vt:lpstr>INTRODUCTION</vt:lpstr>
      <vt:lpstr>LITERATURE SURVEY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HARDWARE</vt:lpstr>
      <vt:lpstr>PowerPoint Presentation</vt:lpstr>
      <vt:lpstr>User Authentication  &amp;  Role Management</vt:lpstr>
      <vt:lpstr>AI Waste Scanner &amp; Segregation</vt:lpstr>
      <vt:lpstr>Pickup Scheduling &amp; Gamified Rewards</vt:lpstr>
      <vt:lpstr>SEGREGATION  GUIDE  </vt:lpstr>
      <vt:lpstr>ROUTE OPTIMIZER</vt:lpstr>
      <vt:lpstr>AUTHORITY DASHBOARD &amp; WASTE ANALYTICS</vt:lpstr>
      <vt:lpstr>WORKER DASHBOARD </vt:lpstr>
      <vt:lpstr>WORKER PICKUP</vt:lpstr>
      <vt:lpstr>PROOF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Saravanan M</dc:creator>
  <cp:lastModifiedBy>G V SANTOSH</cp:lastModifiedBy>
  <cp:revision>10</cp:revision>
  <dcterms:created xsi:type="dcterms:W3CDTF">2026-03-25T02:04:48Z</dcterms:created>
  <dcterms:modified xsi:type="dcterms:W3CDTF">2026-05-04T19:32:39Z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2026-03-25T00:00:00Z</vt:filetime>
  </property>
  <property fmtid="{D5CDD505-2E9C-101B-9397-08002B2CF9AE}" pid="3" name="Creator">
    <vt:lpwstr>Microsoft® PowerPoint® 2024</vt:lpwstr>
  </property>
  <property fmtid="{D5CDD505-2E9C-101B-9397-08002B2CF9AE}" pid="4" name="LastSaved">
    <vt:filetime>2026-03-25T00:00:00Z</vt:filetime>
  </property>
  <property fmtid="{D5CDD505-2E9C-101B-9397-08002B2CF9AE}" pid="5" name="Producer">
    <vt:lpwstr>Microsoft® PowerPoint® 2024</vt:lpwstr>
  </property>
</Properties>
</file>